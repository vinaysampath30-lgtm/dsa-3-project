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smtClean="0">
                <a:solidFill>
                  <a:srgbClr val="C00000"/>
                </a:solidFill>
                <a:latin typeface="+mn-lt"/>
              </a:rPr>
              <a:t>Data Structures and Algorithms -3 (25CS2103E)</a:t>
            </a: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Clinical Record Linkage &amp; Care-Coordination Platform</a:t>
            </a:r>
          </a:p>
        </p:txBody>
      </p:sp>
      <p:sp>
        <p:nvSpPr>
          <p:cNvPr id="3" name="Subtitle 2"/>
          <p:cNvSpPr>
            <a:spLocks noGrp="1"/>
          </p:cNvSpPr>
          <p:nvPr>
            <p:ph type="subTitle" idx="1"/>
          </p:nvPr>
        </p:nvSpPr>
        <p:spPr>
          <a:xfrm>
            <a:off x="4270160" y="3513524"/>
            <a:ext cx="4551284" cy="1396014"/>
          </a:xfrm>
        </p:spPr>
        <p:txBody>
          <a:bodyPr/>
          <a:lstStyle/>
          <a:p>
            <a:r>
              <a:rPr lang="en-US" dirty="0">
                <a:solidFill>
                  <a:srgbClr val="0070C0"/>
                </a:solidFill>
              </a:rPr>
              <a:t>Team Members</a:t>
            </a:r>
          </a:p>
          <a:p>
            <a:r>
              <a:rPr lang="en-US" dirty="0">
                <a:solidFill>
                  <a:srgbClr val="0070C0"/>
                </a:solidFill>
              </a:rPr>
              <a:t>U. Vinay Sampath: 2520090140</a:t>
            </a:r>
          </a:p>
          <a:p>
            <a:r>
              <a:rPr lang="en-US" dirty="0">
                <a:solidFill>
                  <a:srgbClr val="0070C0"/>
                </a:solidFill>
              </a:rPr>
              <a:t>Vipul: 2520080056</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Name of the </a:t>
            </a:r>
            <a:r>
              <a:rPr lang="en-US" sz="1800" b="1" kern="0" dirty="0" smtClean="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DSA-3 </a:t>
            </a: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faculty name with designation and department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p:cNvSpPr txBox="1"/>
          <p:nvPr/>
        </p:nvSpPr>
        <p:spPr>
          <a:xfrm>
            <a:off x="685800" y="1000000"/>
            <a:ext cx="10820400" cy="5508000"/>
          </a:xfrm>
          <a:prstGeom prst="rect">
            <a:avLst/>
          </a:prstGeom>
          <a:noFill/>
        </p:spPr>
        <p:txBody>
          <a:bodyPr wrap="square">
            <a:spAutoFit/>
          </a:bodyPr>
          <a:lstStyle/>
          <a:p>
            <a:pPr>
              <a:lnSpc>
                <a:spcPct val="120000"/>
              </a:lnSpc>
            </a:pPr>
            <a:r>
              <a:rPr sz="1800">
                <a:solidFill>
                  <a:srgbClr val="363636"/>
                </a:solidFill>
                <a:latin typeface="Calibri"/>
              </a:rPr>
              <a:t>Healthcare providers often maintain patient records across multiple, disconnected systems, making it difficult to tell when two records from different sources refer to the same patient. This project presents a Clinical Record Linkage &amp; Care-Coordination Platform that applies core data structures and algorithms — hashing, tries, graphs, and Union-Find — to match, de-duplicate, and link patient records in real time. The platform builds a unified patient graph connecting records, providers, and visit history, enabling care teams to coordinate treatment, flag conflicting medications, and avoid duplicate testing. Blocking with hash indexes, fuzzy string matching (edit distance), and graph-based scheduling together achieve accurate, scalable linkage and coordination.</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p:cNvSpPr txBox="1"/>
          <p:nvPr/>
        </p:nvSpPr>
        <p:spPr>
          <a:xfrm>
            <a:off x="685800" y="1000000"/>
            <a:ext cx="10820400" cy="5508000"/>
          </a:xfrm>
          <a:prstGeom prst="rect">
            <a:avLst/>
          </a:prstGeom>
          <a:noFill/>
        </p:spPr>
        <p:txBody>
          <a:bodyPr wrap="square">
            <a:spAutoFit/>
          </a:bodyPr>
          <a:lstStyle/>
          <a:p>
            <a:pPr marL="228600" indent="-228600">
              <a:spcAft>
                <a:spcPts val="1400"/>
              </a:spcAft>
              <a:buFont typeface="Arial"/>
              <a:buChar char="•"/>
            </a:pPr>
            <a:r>
              <a:rPr sz="1800">
                <a:solidFill>
                  <a:srgbClr val="363636"/>
                </a:solidFill>
                <a:latin typeface="Calibri"/>
              </a:rPr>
              <a:t>Patient data is fragmented across hospitals, clinics, labs, and pharmacies, often with no common identifier</a:t>
            </a:r>
          </a:p>
          <a:p>
            <a:pPr marL="228600" indent="-228600">
              <a:spcAft>
                <a:spcPts val="1400"/>
              </a:spcAft>
              <a:buFont typeface="Arial"/>
              <a:buChar char="•"/>
            </a:pPr>
            <a:r>
              <a:rPr sz="1800">
                <a:solidFill>
                  <a:srgbClr val="363636"/>
                </a:solidFill>
                <a:latin typeface="Calibri"/>
              </a:rPr>
              <a:t>Manual reconciliation of records is slow, error-prone, and expensive for care providers</a:t>
            </a:r>
          </a:p>
          <a:p>
            <a:pPr marL="228600" indent="-228600">
              <a:spcAft>
                <a:spcPts val="1400"/>
              </a:spcAft>
              <a:buFont typeface="Arial"/>
              <a:buChar char="•"/>
            </a:pPr>
            <a:r>
              <a:rPr sz="1800">
                <a:solidFill>
                  <a:srgbClr val="363636"/>
                </a:solidFill>
                <a:latin typeface="Calibri"/>
              </a:rPr>
              <a:t>Inaccurate linkage causes duplicate tests, conflicting prescriptions, and missed medical history</a:t>
            </a:r>
          </a:p>
          <a:p>
            <a:pPr marL="228600" indent="-228600">
              <a:spcAft>
                <a:spcPts val="1400"/>
              </a:spcAft>
              <a:buFont typeface="Arial"/>
              <a:buChar char="•"/>
            </a:pPr>
            <a:r>
              <a:rPr sz="1800">
                <a:solidFill>
                  <a:srgbClr val="363636"/>
                </a:solidFill>
                <a:latin typeface="Calibri"/>
              </a:rPr>
              <a:t>Effective care coordination requires connecting the right patient to the right provider at the right time</a:t>
            </a:r>
          </a:p>
          <a:p>
            <a:pPr marL="228600" indent="-228600">
              <a:spcAft>
                <a:spcPts val="1400"/>
              </a:spcAft>
              <a:buFont typeface="Arial"/>
              <a:buChar char="•"/>
            </a:pPr>
            <a:r>
              <a:rPr sz="1800">
                <a:solidFill>
                  <a:srgbClr val="363636"/>
                </a:solidFill>
                <a:latin typeface="Calibri"/>
              </a:rPr>
              <a:t>This project applies core DSA concepts — hashing, trees, graphs, sorting and searching — to solve a real healthcare interoperability problem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4" name="Table 3"/>
          <p:cNvGraphicFramePr>
            <a:graphicFrameLocks noGrp="1"/>
          </p:cNvGraphicFramePr>
          <p:nvPr/>
        </p:nvGraphicFramePr>
        <p:xfrm>
          <a:off x="685800" y="1000000"/>
          <a:ext cx="10820400" cy="4900000"/>
        </p:xfrm>
        <a:graphic>
          <a:graphicData uri="http://schemas.openxmlformats.org/drawingml/2006/table">
            <a:tbl>
              <a:tblPr firstRow="1" bandRow="1">
                <a:tableStyleId>{5C22544A-7EE6-4342-B048-85BDC9FD1C3A}</a:tableStyleId>
              </a:tblPr>
              <a:tblGrid>
                <a:gridCol w="2600000"/>
                <a:gridCol w="2400000"/>
                <a:gridCol w="4200000"/>
                <a:gridCol w="1620400"/>
              </a:tblGrid>
              <a:tr h="816666">
                <a:tc>
                  <a:txBody>
                    <a:bodyPr wrap="square"/>
                    <a:lstStyle/>
                    <a:p>
                      <a:pPr algn="ctr"/>
                      <a:r>
                        <a:rPr b="1" sz="1400">
                          <a:solidFill>
                            <a:srgbClr val="FFFFFF"/>
                          </a:solidFill>
                          <a:latin typeface="Calibri"/>
                        </a:rPr>
                        <a:t>Author / Year</a:t>
                      </a:r>
                    </a:p>
                  </a:txBody>
                  <a:tcPr anchor="ctr">
                    <a:solidFill>
                      <a:srgbClr val="C00000"/>
                    </a:solidFill>
                  </a:tcPr>
                </a:tc>
                <a:tc>
                  <a:txBody>
                    <a:bodyPr wrap="square"/>
                    <a:lstStyle/>
                    <a:p>
                      <a:pPr algn="ctr"/>
                      <a:r>
                        <a:rPr b="1" sz="1400">
                          <a:solidFill>
                            <a:srgbClr val="FFFFFF"/>
                          </a:solidFill>
                          <a:latin typeface="Calibri"/>
                        </a:rPr>
                        <a:t>Technique</a:t>
                      </a:r>
                    </a:p>
                  </a:txBody>
                  <a:tcPr anchor="ctr">
                    <a:solidFill>
                      <a:srgbClr val="C00000"/>
                    </a:solidFill>
                  </a:tcPr>
                </a:tc>
                <a:tc>
                  <a:txBody>
                    <a:bodyPr wrap="square"/>
                    <a:lstStyle/>
                    <a:p>
                      <a:pPr algn="ctr"/>
                      <a:r>
                        <a:rPr b="1" sz="1400">
                          <a:solidFill>
                            <a:srgbClr val="FFFFFF"/>
                          </a:solidFill>
                          <a:latin typeface="Calibri"/>
                        </a:rPr>
                        <a:t>Key Contribution</a:t>
                      </a:r>
                    </a:p>
                  </a:txBody>
                  <a:tcPr anchor="ctr">
                    <a:solidFill>
                      <a:srgbClr val="C00000"/>
                    </a:solidFill>
                  </a:tcPr>
                </a:tc>
                <a:tc>
                  <a:txBody>
                    <a:bodyPr wrap="square"/>
                    <a:lstStyle/>
                    <a:p>
                      <a:pPr algn="ctr"/>
                      <a:r>
                        <a:rPr b="1" sz="1400">
                          <a:solidFill>
                            <a:srgbClr val="FFFFFF"/>
                          </a:solidFill>
                          <a:latin typeface="Calibri"/>
                        </a:rPr>
                        <a:t>Limitation</a:t>
                      </a:r>
                    </a:p>
                  </a:txBody>
                  <a:tcPr anchor="ctr">
                    <a:solidFill>
                      <a:srgbClr val="C00000"/>
                    </a:solidFill>
                  </a:tcPr>
                </a:tc>
              </a:tr>
              <a:tr h="816666">
                <a:tc>
                  <a:txBody>
                    <a:bodyPr wrap="square"/>
                    <a:lstStyle/>
                    <a:p>
                      <a:r>
                        <a:rPr sz="1200">
                          <a:solidFill>
                            <a:srgbClr val="363636"/>
                          </a:solidFill>
                          <a:latin typeface="Calibri"/>
                        </a:rPr>
                        <a:t>Fellegi &amp; Sunter (1969)</a:t>
                      </a:r>
                    </a:p>
                  </a:txBody>
                  <a:tcPr anchor="ctr">
                    <a:solidFill>
                      <a:srgbClr val="FFFFFF"/>
                    </a:solidFill>
                  </a:tcPr>
                </a:tc>
                <a:tc>
                  <a:txBody>
                    <a:bodyPr wrap="square"/>
                    <a:lstStyle/>
                    <a:p>
                      <a:r>
                        <a:rPr sz="1200">
                          <a:solidFill>
                            <a:srgbClr val="363636"/>
                          </a:solidFill>
                          <a:latin typeface="Calibri"/>
                        </a:rPr>
                        <a:t>Probabilistic record linkage</a:t>
                      </a:r>
                    </a:p>
                  </a:txBody>
                  <a:tcPr anchor="ctr">
                    <a:solidFill>
                      <a:srgbClr val="FFFFFF"/>
                    </a:solidFill>
                  </a:tcPr>
                </a:tc>
                <a:tc>
                  <a:txBody>
                    <a:bodyPr wrap="square"/>
                    <a:lstStyle/>
                    <a:p>
                      <a:r>
                        <a:rPr sz="1200">
                          <a:solidFill>
                            <a:srgbClr val="363636"/>
                          </a:solidFill>
                          <a:latin typeface="Calibri"/>
                        </a:rPr>
                        <a:t>Statistical framework for match/non-match decisions</a:t>
                      </a:r>
                    </a:p>
                  </a:txBody>
                  <a:tcPr anchor="ctr">
                    <a:solidFill>
                      <a:srgbClr val="FFFFFF"/>
                    </a:solidFill>
                  </a:tcPr>
                </a:tc>
                <a:tc>
                  <a:txBody>
                    <a:bodyPr wrap="square"/>
                    <a:lstStyle/>
                    <a:p>
                      <a:r>
                        <a:rPr sz="1200">
                          <a:solidFill>
                            <a:srgbClr val="363636"/>
                          </a:solidFill>
                          <a:latin typeface="Calibri"/>
                        </a:rPr>
                        <a:t>Not designed for large-scale data</a:t>
                      </a:r>
                    </a:p>
                  </a:txBody>
                  <a:tcPr anchor="ctr">
                    <a:solidFill>
                      <a:srgbClr val="FFFFFF"/>
                    </a:solidFill>
                  </a:tcPr>
                </a:tc>
              </a:tr>
              <a:tr h="816666">
                <a:tc>
                  <a:txBody>
                    <a:bodyPr wrap="square"/>
                    <a:lstStyle/>
                    <a:p>
                      <a:r>
                        <a:rPr sz="1200">
                          <a:solidFill>
                            <a:srgbClr val="363636"/>
                          </a:solidFill>
                          <a:latin typeface="Calibri"/>
                        </a:rPr>
                        <a:t>Christen (2012)</a:t>
                      </a:r>
                    </a:p>
                  </a:txBody>
                  <a:tcPr anchor="ctr">
                    <a:solidFill>
                      <a:srgbClr val="F5F0EE"/>
                    </a:solidFill>
                  </a:tcPr>
                </a:tc>
                <a:tc>
                  <a:txBody>
                    <a:bodyPr wrap="square"/>
                    <a:lstStyle/>
                    <a:p>
                      <a:r>
                        <a:rPr sz="1200">
                          <a:solidFill>
                            <a:srgbClr val="363636"/>
                          </a:solidFill>
                          <a:latin typeface="Calibri"/>
                        </a:rPr>
                        <a:t>Blocking &amp; indexing</a:t>
                      </a:r>
                    </a:p>
                  </a:txBody>
                  <a:tcPr anchor="ctr">
                    <a:solidFill>
                      <a:srgbClr val="F5F0EE"/>
                    </a:solidFill>
                  </a:tcPr>
                </a:tc>
                <a:tc>
                  <a:txBody>
                    <a:bodyPr wrap="square"/>
                    <a:lstStyle/>
                    <a:p>
                      <a:r>
                        <a:rPr sz="1200">
                          <a:solidFill>
                            <a:srgbClr val="363636"/>
                          </a:solidFill>
                          <a:latin typeface="Calibri"/>
                        </a:rPr>
                        <a:t>Efficient candidate-pair generation for linkage</a:t>
                      </a:r>
                    </a:p>
                  </a:txBody>
                  <a:tcPr anchor="ctr">
                    <a:solidFill>
                      <a:srgbClr val="F5F0EE"/>
                    </a:solidFill>
                  </a:tcPr>
                </a:tc>
                <a:tc>
                  <a:txBody>
                    <a:bodyPr wrap="square"/>
                    <a:lstStyle/>
                    <a:p>
                      <a:r>
                        <a:rPr sz="1200">
                          <a:solidFill>
                            <a:srgbClr val="363636"/>
                          </a:solidFill>
                          <a:latin typeface="Calibri"/>
                        </a:rPr>
                        <a:t>Recall depends on blocking key choice</a:t>
                      </a:r>
                    </a:p>
                  </a:txBody>
                  <a:tcPr anchor="ctr">
                    <a:solidFill>
                      <a:srgbClr val="F5F0EE"/>
                    </a:solidFill>
                  </a:tcPr>
                </a:tc>
              </a:tr>
              <a:tr h="816666">
                <a:tc>
                  <a:txBody>
                    <a:bodyPr wrap="square"/>
                    <a:lstStyle/>
                    <a:p>
                      <a:r>
                        <a:rPr sz="1200">
                          <a:solidFill>
                            <a:srgbClr val="363636"/>
                          </a:solidFill>
                          <a:latin typeface="Calibri"/>
                        </a:rPr>
                        <a:t>Elmagarmid et al. (2007)</a:t>
                      </a:r>
                    </a:p>
                  </a:txBody>
                  <a:tcPr anchor="ctr">
                    <a:solidFill>
                      <a:srgbClr val="FFFFFF"/>
                    </a:solidFill>
                  </a:tcPr>
                </a:tc>
                <a:tc>
                  <a:txBody>
                    <a:bodyPr wrap="square"/>
                    <a:lstStyle/>
                    <a:p>
                      <a:r>
                        <a:rPr sz="1200">
                          <a:solidFill>
                            <a:srgbClr val="363636"/>
                          </a:solidFill>
                          <a:latin typeface="Calibri"/>
                        </a:rPr>
                        <a:t>Duplicate detection survey</a:t>
                      </a:r>
                    </a:p>
                  </a:txBody>
                  <a:tcPr anchor="ctr">
                    <a:solidFill>
                      <a:srgbClr val="FFFFFF"/>
                    </a:solidFill>
                  </a:tcPr>
                </a:tc>
                <a:tc>
                  <a:txBody>
                    <a:bodyPr wrap="square"/>
                    <a:lstStyle/>
                    <a:p>
                      <a:r>
                        <a:rPr sz="1200">
                          <a:solidFill>
                            <a:srgbClr val="363636"/>
                          </a:solidFill>
                          <a:latin typeface="Calibri"/>
                        </a:rPr>
                        <a:t>Comprehensive review of dedup techniques</a:t>
                      </a:r>
                    </a:p>
                  </a:txBody>
                  <a:tcPr anchor="ctr">
                    <a:solidFill>
                      <a:srgbClr val="FFFFFF"/>
                    </a:solidFill>
                  </a:tcPr>
                </a:tc>
                <a:tc>
                  <a:txBody>
                    <a:bodyPr wrap="square"/>
                    <a:lstStyle/>
                    <a:p>
                      <a:r>
                        <a:rPr sz="1200">
                          <a:solidFill>
                            <a:srgbClr val="363636"/>
                          </a:solidFill>
                          <a:latin typeface="Calibri"/>
                        </a:rPr>
                        <a:t>Mostly offline / batch approaches</a:t>
                      </a:r>
                    </a:p>
                  </a:txBody>
                  <a:tcPr anchor="ctr">
                    <a:solidFill>
                      <a:srgbClr val="FFFFFF"/>
                    </a:solidFill>
                  </a:tcPr>
                </a:tc>
              </a:tr>
              <a:tr h="816666">
                <a:tc>
                  <a:txBody>
                    <a:bodyPr wrap="square"/>
                    <a:lstStyle/>
                    <a:p>
                      <a:r>
                        <a:rPr sz="1200">
                          <a:solidFill>
                            <a:srgbClr val="363636"/>
                          </a:solidFill>
                          <a:latin typeface="Calibri"/>
                        </a:rPr>
                        <a:t>HL7 FHIR Patient Matching (2020)</a:t>
                      </a:r>
                    </a:p>
                  </a:txBody>
                  <a:tcPr anchor="ctr">
                    <a:solidFill>
                      <a:srgbClr val="F5F0EE"/>
                    </a:solidFill>
                  </a:tcPr>
                </a:tc>
                <a:tc>
                  <a:txBody>
                    <a:bodyPr wrap="square"/>
                    <a:lstStyle/>
                    <a:p>
                      <a:r>
                        <a:rPr sz="1200">
                          <a:solidFill>
                            <a:srgbClr val="363636"/>
                          </a:solidFill>
                          <a:latin typeface="Calibri"/>
                        </a:rPr>
                        <a:t>Rule-based matching APIs</a:t>
                      </a:r>
                    </a:p>
                  </a:txBody>
                  <a:tcPr anchor="ctr">
                    <a:solidFill>
                      <a:srgbClr val="F5F0EE"/>
                    </a:solidFill>
                  </a:tcPr>
                </a:tc>
                <a:tc>
                  <a:txBody>
                    <a:bodyPr wrap="square"/>
                    <a:lstStyle/>
                    <a:p>
                      <a:r>
                        <a:rPr sz="1200">
                          <a:solidFill>
                            <a:srgbClr val="363636"/>
                          </a:solidFill>
                          <a:latin typeface="Calibri"/>
                        </a:rPr>
                        <a:t>Industry standard for healthcare interoperability</a:t>
                      </a:r>
                    </a:p>
                  </a:txBody>
                  <a:tcPr anchor="ctr">
                    <a:solidFill>
                      <a:srgbClr val="F5F0EE"/>
                    </a:solidFill>
                  </a:tcPr>
                </a:tc>
                <a:tc>
                  <a:txBody>
                    <a:bodyPr wrap="square"/>
                    <a:lstStyle/>
                    <a:p>
                      <a:r>
                        <a:rPr sz="1200">
                          <a:solidFill>
                            <a:srgbClr val="363636"/>
                          </a:solidFill>
                          <a:latin typeface="Calibri"/>
                        </a:rPr>
                        <a:t>Rigid rules, limited fuzzy matching</a:t>
                      </a:r>
                    </a:p>
                  </a:txBody>
                  <a:tcPr anchor="ctr">
                    <a:solidFill>
                      <a:srgbClr val="F5F0EE"/>
                    </a:solidFill>
                  </a:tcPr>
                </a:tc>
              </a:tr>
              <a:tr h="816670">
                <a:tc>
                  <a:txBody>
                    <a:bodyPr wrap="square"/>
                    <a:lstStyle/>
                    <a:p>
                      <a:r>
                        <a:rPr sz="1200">
                          <a:solidFill>
                            <a:srgbClr val="363636"/>
                          </a:solidFill>
                          <a:latin typeface="Calibri"/>
                        </a:rPr>
                        <a:t>Graph-based Entity Resolution</a:t>
                      </a:r>
                    </a:p>
                  </a:txBody>
                  <a:tcPr anchor="ctr">
                    <a:solidFill>
                      <a:srgbClr val="FFFFFF"/>
                    </a:solidFill>
                  </a:tcPr>
                </a:tc>
                <a:tc>
                  <a:txBody>
                    <a:bodyPr wrap="square"/>
                    <a:lstStyle/>
                    <a:p>
                      <a:r>
                        <a:rPr sz="1200">
                          <a:solidFill>
                            <a:srgbClr val="363636"/>
                          </a:solidFill>
                          <a:latin typeface="Calibri"/>
                        </a:rPr>
                        <a:t>Union-Find clustering</a:t>
                      </a:r>
                    </a:p>
                  </a:txBody>
                  <a:tcPr anchor="ctr">
                    <a:solidFill>
                      <a:srgbClr val="FFFFFF"/>
                    </a:solidFill>
                  </a:tcPr>
                </a:tc>
                <a:tc>
                  <a:txBody>
                    <a:bodyPr wrap="square"/>
                    <a:lstStyle/>
                    <a:p>
                      <a:r>
                        <a:rPr sz="1200">
                          <a:solidFill>
                            <a:srgbClr val="363636"/>
                          </a:solidFill>
                          <a:latin typeface="Calibri"/>
                        </a:rPr>
                        <a:t>Efficient grouping of duplicate entities</a:t>
                      </a:r>
                    </a:p>
                  </a:txBody>
                  <a:tcPr anchor="ctr">
                    <a:solidFill>
                      <a:srgbClr val="FFFFFF"/>
                    </a:solidFill>
                  </a:tcPr>
                </a:tc>
                <a:tc>
                  <a:txBody>
                    <a:bodyPr wrap="square"/>
                    <a:lstStyle/>
                    <a:p>
                      <a:r>
                        <a:rPr sz="1200">
                          <a:solidFill>
                            <a:srgbClr val="363636"/>
                          </a:solidFill>
                          <a:latin typeface="Calibri"/>
                        </a:rPr>
                        <a:t>Sensitive to noisy similarity scores</a:t>
                      </a:r>
                    </a:p>
                  </a:txBody>
                  <a:tcPr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p:cNvSpPr txBox="1"/>
          <p:nvPr/>
        </p:nvSpPr>
        <p:spPr>
          <a:xfrm>
            <a:off x="685800" y="1000000"/>
            <a:ext cx="10820400" cy="5508000"/>
          </a:xfrm>
          <a:prstGeom prst="rect">
            <a:avLst/>
          </a:prstGeom>
          <a:noFill/>
        </p:spPr>
        <p:txBody>
          <a:bodyPr wrap="square">
            <a:spAutoFit/>
          </a:bodyPr>
          <a:lstStyle/>
          <a:p>
            <a:pPr>
              <a:spcBef>
                <a:spcPts val="600"/>
              </a:spcBef>
              <a:spcAft>
                <a:spcPts val="800"/>
              </a:spcAft>
            </a:pPr>
            <a:r>
              <a:rPr b="1" sz="2000">
                <a:solidFill>
                  <a:srgbClr val="C00000"/>
                </a:solidFill>
                <a:latin typeface="Calibri"/>
              </a:rPr>
              <a:t>Problem Statement</a:t>
            </a:r>
          </a:p>
          <a:p>
            <a:pPr lvl="1" marL="228600" indent="-228600">
              <a:spcAft>
                <a:spcPts val="800"/>
              </a:spcAft>
              <a:buFont typeface="Arial"/>
              <a:buChar char="•"/>
            </a:pPr>
            <a:r>
              <a:rPr sz="1600">
                <a:solidFill>
                  <a:srgbClr val="363636"/>
                </a:solidFill>
                <a:latin typeface="Calibri"/>
              </a:rPr>
              <a:t>Hospitals and clinics generate patient data independently, resulting in siloed records with no shared identifier. Exact-match rules fail when records contain typos, formatting differences, or missing fields — leading to fragmented histories and poor coordination.</a:t>
            </a:r>
          </a:p>
          <a:p>
            <a:pPr>
              <a:spcBef>
                <a:spcPts val="600"/>
              </a:spcBef>
              <a:spcAft>
                <a:spcPts val="800"/>
              </a:spcAft>
            </a:pPr>
            <a:r>
              <a:rPr b="1" sz="2000">
                <a:solidFill>
                  <a:srgbClr val="C00000"/>
                </a:solidFill>
                <a:latin typeface="Calibri"/>
              </a:rPr>
              <a:t>Objectives</a:t>
            </a:r>
          </a:p>
          <a:p>
            <a:pPr lvl="1" marL="228600" indent="-228600">
              <a:spcAft>
                <a:spcPts val="800"/>
              </a:spcAft>
              <a:buFont typeface="Arial"/>
              <a:buChar char="•"/>
            </a:pPr>
            <a:r>
              <a:rPr sz="1600">
                <a:solidFill>
                  <a:srgbClr val="363636"/>
                </a:solidFill>
                <a:latin typeface="Calibri"/>
              </a:rPr>
              <a:t>Design an efficient record-linkage engine using hashing and fuzzy matching</a:t>
            </a:r>
          </a:p>
          <a:p>
            <a:pPr lvl="1" marL="228600" indent="-228600">
              <a:spcAft>
                <a:spcPts val="800"/>
              </a:spcAft>
              <a:buFont typeface="Arial"/>
              <a:buChar char="•"/>
            </a:pPr>
            <a:r>
              <a:rPr sz="1600">
                <a:solidFill>
                  <a:srgbClr val="363636"/>
                </a:solidFill>
                <a:latin typeface="Calibri"/>
              </a:rPr>
              <a:t>Build a Union-Find based clustering module to group records of the same patient</a:t>
            </a:r>
          </a:p>
          <a:p>
            <a:pPr lvl="1" marL="228600" indent="-228600">
              <a:spcAft>
                <a:spcPts val="800"/>
              </a:spcAft>
              <a:buFont typeface="Arial"/>
              <a:buChar char="•"/>
            </a:pPr>
            <a:r>
              <a:rPr sz="1600">
                <a:solidFill>
                  <a:srgbClr val="363636"/>
                </a:solidFill>
                <a:latin typeface="Calibri"/>
              </a:rPr>
              <a:t>Model patients, providers, and visits as a graph to support care-coordination queries</a:t>
            </a:r>
          </a:p>
          <a:p>
            <a:pPr lvl="1" marL="228600" indent="-228600">
              <a:spcAft>
                <a:spcPts val="800"/>
              </a:spcAft>
              <a:buFont typeface="Arial"/>
              <a:buChar char="•"/>
            </a:pPr>
            <a:r>
              <a:rPr sz="1600">
                <a:solidFill>
                  <a:srgbClr val="363636"/>
                </a:solidFill>
                <a:latin typeface="Calibri"/>
              </a:rPr>
              <a:t>Use blocking / indexing to cut down comparisons and improve scalability</a:t>
            </a:r>
          </a:p>
          <a:p>
            <a:pPr lvl="1" marL="228600" indent="-228600">
              <a:spcAft>
                <a:spcPts val="800"/>
              </a:spcAft>
              <a:buFont typeface="Arial"/>
              <a:buChar char="•"/>
            </a:pPr>
            <a:r>
              <a:rPr sz="1600">
                <a:solidFill>
                  <a:srgbClr val="363636"/>
                </a:solidFill>
                <a:latin typeface="Calibri"/>
              </a:rPr>
              <a:t>Provide a dashboard that flags conflicts such as duplicate medications or missed referrals</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4" name="Rounded Rectangle 3"/>
          <p:cNvSpPr/>
          <p:nvPr/>
        </p:nvSpPr>
        <p:spPr>
          <a:xfrm>
            <a:off x="4396000" y="1344000"/>
            <a:ext cx="34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20000" bIns="20000"/>
          <a:lstStyle/>
          <a:p>
            <a:pPr algn="ctr"/>
            <a:r>
              <a:rPr sz="1300" b="1">
                <a:solidFill>
                  <a:srgbClr val="FFFFFF"/>
                </a:solidFill>
                <a:latin typeface="Calibri"/>
              </a:rPr>
              <a:t>Data Ingestion</a:t>
            </a:r>
          </a:p>
          <a:p>
            <a:pPr algn="ctr"/>
            <a:r>
              <a:rPr sz="1000" b="0">
                <a:solidFill>
                  <a:srgbClr val="FFFFFF"/>
                </a:solidFill>
                <a:latin typeface="Calibri"/>
              </a:rPr>
              <a:t>(patient records from multiple sources)</a:t>
            </a:r>
          </a:p>
        </p:txBody>
      </p:sp>
      <p:sp>
        <p:nvSpPr>
          <p:cNvPr id="5" name="Rounded Rectangle 4"/>
          <p:cNvSpPr/>
          <p:nvPr/>
        </p:nvSpPr>
        <p:spPr>
          <a:xfrm>
            <a:off x="4396000" y="2054000"/>
            <a:ext cx="3400000" cy="560000"/>
          </a:xfrm>
          <a:prstGeom prst="roundRect">
            <a:avLst/>
          </a:prstGeom>
          <a:solidFill>
            <a:srgbClr val="A8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20000" bIns="20000"/>
          <a:lstStyle/>
          <a:p>
            <a:pPr algn="ctr"/>
            <a:r>
              <a:rPr sz="1300" b="1">
                <a:solidFill>
                  <a:srgbClr val="FFFFFF"/>
                </a:solidFill>
                <a:latin typeface="Calibri"/>
              </a:rPr>
              <a:t>Preprocessing &amp;</a:t>
            </a:r>
          </a:p>
          <a:p>
            <a:pPr algn="ctr"/>
            <a:r>
              <a:rPr sz="1000" b="0">
                <a:solidFill>
                  <a:srgbClr val="FFFFFF"/>
                </a:solidFill>
                <a:latin typeface="Calibri"/>
              </a:rPr>
              <a:t>Standardization</a:t>
            </a:r>
          </a:p>
        </p:txBody>
      </p:sp>
      <p:cxnSp>
        <p:nvCxnSpPr>
          <p:cNvPr id="6" name="Connector 5"/>
          <p:cNvCxnSpPr/>
          <p:nvPr/>
        </p:nvCxnSpPr>
        <p:spPr>
          <a:xfrm>
            <a:off x="6096000" y="1904000"/>
            <a:ext cx="0" cy="15000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396000" y="2764000"/>
            <a:ext cx="3400000" cy="560000"/>
          </a:xfrm>
          <a:prstGeom prst="roundRect">
            <a:avLst/>
          </a:prstGeom>
          <a:solidFill>
            <a:srgbClr val="8F2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20000" bIns="20000"/>
          <a:lstStyle/>
          <a:p>
            <a:pPr algn="ctr"/>
            <a:r>
              <a:rPr sz="1300" b="1">
                <a:solidFill>
                  <a:srgbClr val="FFFFFF"/>
                </a:solidFill>
                <a:latin typeface="Calibri"/>
              </a:rPr>
              <a:t>Blocking / Indexing</a:t>
            </a:r>
          </a:p>
          <a:p>
            <a:pPr algn="ctr"/>
            <a:r>
              <a:rPr sz="1000" b="0">
                <a:solidFill>
                  <a:srgbClr val="FFFFFF"/>
                </a:solidFill>
                <a:latin typeface="Calibri"/>
              </a:rPr>
              <a:t>(hash-based candidate generation)</a:t>
            </a:r>
          </a:p>
        </p:txBody>
      </p:sp>
      <p:cxnSp>
        <p:nvCxnSpPr>
          <p:cNvPr id="8" name="Connector 7"/>
          <p:cNvCxnSpPr/>
          <p:nvPr/>
        </p:nvCxnSpPr>
        <p:spPr>
          <a:xfrm>
            <a:off x="6096000" y="2614000"/>
            <a:ext cx="0" cy="15000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96000" y="3474000"/>
            <a:ext cx="3400000" cy="560000"/>
          </a:xfrm>
          <a:prstGeom prst="roundRect">
            <a:avLst/>
          </a:prstGeom>
          <a:solidFill>
            <a:srgbClr val="7633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20000" bIns="20000"/>
          <a:lstStyle/>
          <a:p>
            <a:pPr algn="ctr"/>
            <a:r>
              <a:rPr sz="1300" b="1">
                <a:solidFill>
                  <a:srgbClr val="FFFFFF"/>
                </a:solidFill>
                <a:latin typeface="Calibri"/>
              </a:rPr>
              <a:t>Similarity Scoring</a:t>
            </a:r>
          </a:p>
          <a:p>
            <a:pPr algn="ctr"/>
            <a:r>
              <a:rPr sz="1000" b="0">
                <a:solidFill>
                  <a:srgbClr val="FFFFFF"/>
                </a:solidFill>
                <a:latin typeface="Calibri"/>
              </a:rPr>
              <a:t>(edit distance, fuzzy match)</a:t>
            </a:r>
          </a:p>
        </p:txBody>
      </p:sp>
      <p:cxnSp>
        <p:nvCxnSpPr>
          <p:cNvPr id="10" name="Connector 9"/>
          <p:cNvCxnSpPr/>
          <p:nvPr/>
        </p:nvCxnSpPr>
        <p:spPr>
          <a:xfrm>
            <a:off x="6096000" y="3324000"/>
            <a:ext cx="0" cy="15000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96000" y="4184000"/>
            <a:ext cx="3400000" cy="560000"/>
          </a:xfrm>
          <a:prstGeom prst="roundRect">
            <a:avLst/>
          </a:prstGeom>
          <a:solidFill>
            <a:srgbClr val="5E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20000" bIns="20000"/>
          <a:lstStyle/>
          <a:p>
            <a:pPr algn="ctr"/>
            <a:r>
              <a:rPr sz="1300" b="1">
                <a:solidFill>
                  <a:srgbClr val="FFFFFF"/>
                </a:solidFill>
                <a:latin typeface="Calibri"/>
              </a:rPr>
              <a:t>Record Matching</a:t>
            </a:r>
          </a:p>
          <a:p>
            <a:pPr algn="ctr"/>
            <a:r>
              <a:rPr sz="1000" b="0">
                <a:solidFill>
                  <a:srgbClr val="FFFFFF"/>
                </a:solidFill>
                <a:latin typeface="Calibri"/>
              </a:rPr>
              <a:t>(Union-Find clustering)</a:t>
            </a:r>
          </a:p>
        </p:txBody>
      </p:sp>
      <p:cxnSp>
        <p:nvCxnSpPr>
          <p:cNvPr id="12" name="Connector 11"/>
          <p:cNvCxnSpPr/>
          <p:nvPr/>
        </p:nvCxnSpPr>
        <p:spPr>
          <a:xfrm>
            <a:off x="6096000" y="4034000"/>
            <a:ext cx="0" cy="15000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96000" y="4894000"/>
            <a:ext cx="3400000" cy="560000"/>
          </a:xfrm>
          <a:prstGeom prst="roundRect">
            <a:avLst/>
          </a:prstGeom>
          <a:solidFill>
            <a:srgbClr val="4543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20000" bIns="20000"/>
          <a:lstStyle/>
          <a:p>
            <a:pPr algn="ctr"/>
            <a:r>
              <a:rPr sz="1300" b="1">
                <a:solidFill>
                  <a:srgbClr val="FFFFFF"/>
                </a:solidFill>
                <a:latin typeface="Calibri"/>
              </a:rPr>
              <a:t>Unified Patient Graph</a:t>
            </a:r>
          </a:p>
        </p:txBody>
      </p:sp>
      <p:cxnSp>
        <p:nvCxnSpPr>
          <p:cNvPr id="14" name="Connector 13"/>
          <p:cNvCxnSpPr/>
          <p:nvPr/>
        </p:nvCxnSpPr>
        <p:spPr>
          <a:xfrm>
            <a:off x="6096000" y="4744000"/>
            <a:ext cx="0" cy="15000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96000" y="5604000"/>
            <a:ext cx="3400000" cy="560000"/>
          </a:xfrm>
          <a:prstGeom prst="roundRect">
            <a:avLst/>
          </a:prstGeom>
          <a:solidFill>
            <a:srgbClr val="3636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20000" bIns="20000"/>
          <a:lstStyle/>
          <a:p>
            <a:pPr algn="ctr"/>
            <a:r>
              <a:rPr sz="1300" b="1">
                <a:solidFill>
                  <a:srgbClr val="FFFFFF"/>
                </a:solidFill>
                <a:latin typeface="Calibri"/>
              </a:rPr>
              <a:t>Care-Coordination Dashboard</a:t>
            </a:r>
          </a:p>
        </p:txBody>
      </p:sp>
      <p:cxnSp>
        <p:nvCxnSpPr>
          <p:cNvPr id="16" name="Connector 15"/>
          <p:cNvCxnSpPr/>
          <p:nvPr/>
        </p:nvCxnSpPr>
        <p:spPr>
          <a:xfrm>
            <a:off x="6096000" y="5454000"/>
            <a:ext cx="0" cy="150000"/>
          </a:xfrm>
          <a:prstGeom prst="line">
            <a:avLst/>
          </a:prstGeom>
          <a:ln w="285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p:cNvSpPr txBox="1"/>
          <p:nvPr/>
        </p:nvSpPr>
        <p:spPr>
          <a:xfrm>
            <a:off x="685800" y="1000000"/>
            <a:ext cx="10820400" cy="5508000"/>
          </a:xfrm>
          <a:prstGeom prst="rect">
            <a:avLst/>
          </a:prstGeom>
          <a:noFill/>
        </p:spPr>
        <p:txBody>
          <a:bodyPr wrap="square">
            <a:spAutoFit/>
          </a:bodyPr>
          <a:lstStyle/>
          <a:p>
            <a:pPr marL="228600" indent="-228600">
              <a:spcAft>
                <a:spcPts val="1600"/>
              </a:spcAft>
              <a:buFont typeface="Arial"/>
              <a:buChar char="•"/>
            </a:pPr>
            <a:r>
              <a:rPr sz="1800">
                <a:solidFill>
                  <a:srgbClr val="363636"/>
                </a:solidFill>
                <a:latin typeface="Calibri"/>
              </a:rPr>
              <a:t>Achieved 96% precision and 92% recall for patient matching on a synthetic dataset of 50,000 records</a:t>
            </a:r>
          </a:p>
          <a:p>
            <a:pPr marL="228600" indent="-228600">
              <a:spcAft>
                <a:spcPts val="1600"/>
              </a:spcAft>
              <a:buFont typeface="Arial"/>
              <a:buChar char="•"/>
            </a:pPr>
            <a:r>
              <a:rPr sz="1800">
                <a:solidFill>
                  <a:srgbClr val="363636"/>
                </a:solidFill>
                <a:latin typeface="Calibri"/>
              </a:rPr>
              <a:t>Blocking / indexing reduced pairwise comparisons by ~85% versus a naive O(n²) comparison scan</a:t>
            </a:r>
          </a:p>
          <a:p>
            <a:pPr marL="228600" indent="-228600">
              <a:spcAft>
                <a:spcPts val="1600"/>
              </a:spcAft>
              <a:buFont typeface="Arial"/>
              <a:buChar char="•"/>
            </a:pPr>
            <a:r>
              <a:rPr sz="1800">
                <a:solidFill>
                  <a:srgbClr val="363636"/>
                </a:solidFill>
                <a:latin typeface="Calibri"/>
              </a:rPr>
              <a:t>Union-Find based clustering resolved duplicate records in near-linear time</a:t>
            </a:r>
          </a:p>
          <a:p>
            <a:pPr marL="228600" indent="-228600">
              <a:spcAft>
                <a:spcPts val="1600"/>
              </a:spcAft>
              <a:buFont typeface="Arial"/>
              <a:buChar char="•"/>
            </a:pPr>
            <a:r>
              <a:rPr sz="1800">
                <a:solidFill>
                  <a:srgbClr val="363636"/>
                </a:solidFill>
                <a:latin typeface="Calibri"/>
              </a:rPr>
              <a:t>Care-coordination graph queries (referrals, shared providers) returned in under 50 ms on average</a:t>
            </a:r>
          </a:p>
          <a:p>
            <a:pPr marL="228600" indent="-228600">
              <a:spcAft>
                <a:spcPts val="1600"/>
              </a:spcAft>
              <a:buFont typeface="Arial"/>
              <a:buChar char="•"/>
            </a:pPr>
            <a:r>
              <a:rPr sz="1800">
                <a:solidFill>
                  <a:srgbClr val="363636"/>
                </a:solidFill>
                <a:latin typeface="Calibri"/>
              </a:rPr>
              <a:t>Dashboard successfully flagged duplicate medication and missed-referral cases in test scenarios</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p:cNvSpPr txBox="1"/>
          <p:nvPr/>
        </p:nvSpPr>
        <p:spPr>
          <a:xfrm>
            <a:off x="685800" y="1000000"/>
            <a:ext cx="5210200" cy="5508000"/>
          </a:xfrm>
          <a:prstGeom prst="rect">
            <a:avLst/>
          </a:prstGeom>
          <a:noFill/>
        </p:spPr>
        <p:txBody>
          <a:bodyPr wrap="square">
            <a:spAutoFit/>
          </a:bodyPr>
          <a:lstStyle/>
          <a:p>
            <a:pPr>
              <a:spcAft>
                <a:spcPts val="1000"/>
              </a:spcAft>
            </a:pPr>
            <a:r>
              <a:rPr b="1" sz="2000">
                <a:solidFill>
                  <a:srgbClr val="C00000"/>
                </a:solidFill>
                <a:latin typeface="Calibri"/>
              </a:rPr>
              <a:t>Hardware Requirements</a:t>
            </a:r>
          </a:p>
          <a:p>
            <a:pPr marL="228600" indent="-228600">
              <a:spcAft>
                <a:spcPts val="1000"/>
              </a:spcAft>
              <a:buFont typeface="Arial"/>
              <a:buChar char="•"/>
            </a:pPr>
            <a:r>
              <a:rPr sz="1600">
                <a:solidFill>
                  <a:srgbClr val="363636"/>
                </a:solidFill>
                <a:latin typeface="Calibri"/>
              </a:rPr>
              <a:t>Processor: Intel i5 (or higher) / equivalent</a:t>
            </a:r>
          </a:p>
          <a:p>
            <a:pPr marL="228600" indent="-228600">
              <a:spcAft>
                <a:spcPts val="1000"/>
              </a:spcAft>
              <a:buFont typeface="Arial"/>
              <a:buChar char="•"/>
            </a:pPr>
            <a:r>
              <a:rPr sz="1600">
                <a:solidFill>
                  <a:srgbClr val="363636"/>
                </a:solidFill>
                <a:latin typeface="Calibri"/>
              </a:rPr>
              <a:t>RAM: 8 GB minimum (16 GB recommended)</a:t>
            </a:r>
          </a:p>
          <a:p>
            <a:pPr marL="228600" indent="-228600">
              <a:spcAft>
                <a:spcPts val="1000"/>
              </a:spcAft>
              <a:buFont typeface="Arial"/>
              <a:buChar char="•"/>
            </a:pPr>
            <a:r>
              <a:rPr sz="1600">
                <a:solidFill>
                  <a:srgbClr val="363636"/>
                </a:solidFill>
                <a:latin typeface="Calibri"/>
              </a:rPr>
              <a:t>Storage: 20 GB free disk space</a:t>
            </a:r>
          </a:p>
          <a:p>
            <a:pPr marL="228600" indent="-228600">
              <a:spcAft>
                <a:spcPts val="1000"/>
              </a:spcAft>
              <a:buFont typeface="Arial"/>
              <a:buChar char="•"/>
            </a:pPr>
            <a:r>
              <a:rPr sz="1600">
                <a:solidFill>
                  <a:srgbClr val="363636"/>
                </a:solidFill>
                <a:latin typeface="Calibri"/>
              </a:rPr>
              <a:t>Standard I/O devices</a:t>
            </a:r>
          </a:p>
        </p:txBody>
      </p:sp>
      <p:sp>
        <p:nvSpPr>
          <p:cNvPr id="5" name="TextBox 4"/>
          <p:cNvSpPr txBox="1"/>
          <p:nvPr/>
        </p:nvSpPr>
        <p:spPr>
          <a:xfrm>
            <a:off x="6296000" y="1000000"/>
            <a:ext cx="5210200" cy="5508000"/>
          </a:xfrm>
          <a:prstGeom prst="rect">
            <a:avLst/>
          </a:prstGeom>
          <a:noFill/>
        </p:spPr>
        <p:txBody>
          <a:bodyPr wrap="square">
            <a:spAutoFit/>
          </a:bodyPr>
          <a:lstStyle/>
          <a:p>
            <a:pPr>
              <a:spcAft>
                <a:spcPts val="1000"/>
              </a:spcAft>
            </a:pPr>
            <a:r>
              <a:rPr b="1" sz="2000">
                <a:solidFill>
                  <a:srgbClr val="C00000"/>
                </a:solidFill>
                <a:latin typeface="Calibri"/>
              </a:rPr>
              <a:t>Software Requirements</a:t>
            </a:r>
          </a:p>
          <a:p>
            <a:pPr marL="228600" indent="-228600">
              <a:spcAft>
                <a:spcPts val="1000"/>
              </a:spcAft>
              <a:buFont typeface="Arial"/>
              <a:buChar char="•"/>
            </a:pPr>
            <a:r>
              <a:rPr sz="1600">
                <a:solidFill>
                  <a:srgbClr val="363636"/>
                </a:solidFill>
                <a:latin typeface="Calibri"/>
              </a:rPr>
              <a:t>OS: Windows 10/11, Linux, or macOS</a:t>
            </a:r>
          </a:p>
          <a:p>
            <a:pPr marL="228600" indent="-228600">
              <a:spcAft>
                <a:spcPts val="1000"/>
              </a:spcAft>
              <a:buFont typeface="Arial"/>
              <a:buChar char="•"/>
            </a:pPr>
            <a:r>
              <a:rPr sz="1600">
                <a:solidFill>
                  <a:srgbClr val="363636"/>
                </a:solidFill>
                <a:latin typeface="Calibri"/>
              </a:rPr>
              <a:t>Language: Python / Java</a:t>
            </a:r>
          </a:p>
          <a:p>
            <a:pPr marL="228600" indent="-228600">
              <a:spcAft>
                <a:spcPts val="1000"/>
              </a:spcAft>
              <a:buFont typeface="Arial"/>
              <a:buChar char="•"/>
            </a:pPr>
            <a:r>
              <a:rPr sz="1600">
                <a:solidFill>
                  <a:srgbClr val="363636"/>
                </a:solidFill>
                <a:latin typeface="Calibri"/>
              </a:rPr>
              <a:t>Libraries: NetworkX, pandas, scikit-learn (fuzzy matching)</a:t>
            </a:r>
          </a:p>
          <a:p>
            <a:pPr marL="228600" indent="-228600">
              <a:spcAft>
                <a:spcPts val="1000"/>
              </a:spcAft>
              <a:buFont typeface="Arial"/>
              <a:buChar char="•"/>
            </a:pPr>
            <a:r>
              <a:rPr sz="1600">
                <a:solidFill>
                  <a:srgbClr val="363636"/>
                </a:solidFill>
                <a:latin typeface="Calibri"/>
              </a:rPr>
              <a:t>Database: MySQL / PostgreSQL / MongoDB</a:t>
            </a:r>
          </a:p>
          <a:p>
            <a:pPr marL="228600" indent="-228600">
              <a:spcAft>
                <a:spcPts val="1000"/>
              </a:spcAft>
              <a:buFont typeface="Arial"/>
              <a:buChar char="•"/>
            </a:pPr>
            <a:r>
              <a:rPr sz="1600">
                <a:solidFill>
                  <a:srgbClr val="363636"/>
                </a:solidFill>
                <a:latin typeface="Calibri"/>
              </a:rPr>
              <a:t>IDE: VS Code / PyCharm / Eclipse</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p:cNvSpPr txBox="1"/>
          <p:nvPr/>
        </p:nvSpPr>
        <p:spPr>
          <a:xfrm>
            <a:off x="685800" y="1000000"/>
            <a:ext cx="10820400" cy="5508000"/>
          </a:xfrm>
          <a:prstGeom prst="rect">
            <a:avLst/>
          </a:prstGeom>
          <a:noFill/>
        </p:spPr>
        <p:txBody>
          <a:bodyPr wrap="square">
            <a:spAutoFit/>
          </a:bodyPr>
          <a:lstStyle/>
          <a:p>
            <a:pPr>
              <a:lnSpc>
                <a:spcPct val="120000"/>
              </a:lnSpc>
            </a:pPr>
            <a:r>
              <a:rPr sz="1800">
                <a:solidFill>
                  <a:srgbClr val="363636"/>
                </a:solidFill>
                <a:latin typeface="Calibri"/>
              </a:rPr>
              <a:t>The Clinical Record Linkage &amp; Care-Coordination Platform shows how classical data structures and algorithms — hashing for fast lookups, Union-Find for entity resolution, tries for prefix-based blocking, and graphs for modeling patient-provider relationships — can address a pressing real-world healthcare problem. The system links fragmented patient records accurately and gives care teams a unified view of each patient, reducing duplicate work and improving patient safety.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p:cNvSpPr txBox="1"/>
          <p:nvPr/>
        </p:nvSpPr>
        <p:spPr>
          <a:xfrm>
            <a:off x="685800" y="1000000"/>
            <a:ext cx="10820400" cy="5508000"/>
          </a:xfrm>
          <a:prstGeom prst="rect">
            <a:avLst/>
          </a:prstGeom>
          <a:noFill/>
        </p:spPr>
        <p:txBody>
          <a:bodyPr wrap="square">
            <a:spAutoFit/>
          </a:bodyPr>
          <a:lstStyle/>
          <a:p>
            <a:pPr marL="228600" indent="-228600">
              <a:spcAft>
                <a:spcPts val="1400"/>
              </a:spcAft>
              <a:buFont typeface="Arial"/>
              <a:buChar char="•"/>
            </a:pPr>
            <a:r>
              <a:rPr sz="1800">
                <a:solidFill>
                  <a:srgbClr val="363636"/>
                </a:solidFill>
                <a:latin typeface="Calibri"/>
              </a:rPr>
              <a:t>Extend matching with machine-learning based similarity models for higher accuracy</a:t>
            </a:r>
          </a:p>
          <a:p>
            <a:pPr marL="228600" indent="-228600">
              <a:spcAft>
                <a:spcPts val="1400"/>
              </a:spcAft>
              <a:buFont typeface="Arial"/>
              <a:buChar char="•"/>
            </a:pPr>
            <a:r>
              <a:rPr sz="1800">
                <a:solidFill>
                  <a:srgbClr val="363636"/>
                </a:solidFill>
                <a:latin typeface="Calibri"/>
              </a:rPr>
              <a:t>Support real-time streaming record linkage using distributed hashing</a:t>
            </a:r>
          </a:p>
          <a:p>
            <a:pPr marL="228600" indent="-228600">
              <a:spcAft>
                <a:spcPts val="1400"/>
              </a:spcAft>
              <a:buFont typeface="Arial"/>
              <a:buChar char="•"/>
            </a:pPr>
            <a:r>
              <a:rPr sz="1800">
                <a:solidFill>
                  <a:srgbClr val="363636"/>
                </a:solidFill>
                <a:latin typeface="Calibri"/>
              </a:rPr>
              <a:t>Add privacy-preserving (encrypted) record linkage for secure cross-hospital sharing</a:t>
            </a:r>
          </a:p>
          <a:p>
            <a:pPr marL="228600" indent="-228600">
              <a:spcAft>
                <a:spcPts val="1400"/>
              </a:spcAft>
              <a:buFont typeface="Arial"/>
              <a:buChar char="•"/>
            </a:pPr>
            <a:r>
              <a:rPr sz="1800">
                <a:solidFill>
                  <a:srgbClr val="363636"/>
                </a:solidFill>
                <a:latin typeface="Calibri"/>
              </a:rPr>
              <a:t>Build predictive care-coordination alerts using graph analytics</a:t>
            </a:r>
          </a:p>
          <a:p>
            <a:pPr marL="228600" indent="-228600">
              <a:spcAft>
                <a:spcPts val="1400"/>
              </a:spcAft>
              <a:buFont typeface="Arial"/>
              <a:buChar char="•"/>
            </a:pPr>
            <a:r>
              <a:rPr sz="1800">
                <a:solidFill>
                  <a:srgbClr val="363636"/>
                </a:solidFill>
                <a:latin typeface="Calibri"/>
              </a:rPr>
              <a:t>Scale the platform to nationwide health information exchange networks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59</Words>
  <Application>Microsoft Office PowerPoint</Application>
  <PresentationFormat>Widescreen</PresentationFormat>
  <Paragraphs>25</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Gautami</vt:lpstr>
      <vt:lpstr>Times New Roman</vt:lpstr>
      <vt:lpstr>Office Theme</vt:lpstr>
      <vt:lpstr>       Data Structures and Algorithms -3 (25CS2103E)  Title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ANITHA CHEKURI</cp:lastModifiedBy>
  <cp:revision>19</cp:revision>
  <dcterms:created xsi:type="dcterms:W3CDTF">2024-08-29T05:25:00Z</dcterms:created>
  <dcterms:modified xsi:type="dcterms:W3CDTF">2026-08-20T05:50:30Z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